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C4C819-98E5-1CED-A972-5CB8AC869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059657B-E484-F2CB-5D41-8DCD4F2DB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E0BBD45-EDC4-54CC-9CE9-11023AAE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6939171-3B97-EF18-DA31-FA53CC174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522DBED-9052-B560-95CC-E0C42BE6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38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AFE2E6-3EEF-7FDC-A0F2-348A18E52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49563AD-DEA3-57EA-8774-F1EA17287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5867380-2018-3CFF-3DE7-FBB88AB9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79DE5D01-E7D1-D5E4-7C3B-01459BF0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5C4D079-4255-5B17-191D-5D20A478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07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7B4634-91E8-AC8D-7436-D6C9AC3E0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3803CE6-7E8E-35A4-6679-4C5BE5D3F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F1417D8-A798-D00B-183A-2F6AAD7E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BBC4B5B4-993F-35EF-7E0E-97FAD5BB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B0C9743-659F-10BF-7660-227B51D89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52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5D4859-194F-7E3D-0D29-F8000F23B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4F5D40-9380-AD62-1B29-E594F2C7E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1A4CAF2B-029B-E949-FB8D-2E87286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C134466E-8695-91FF-FB4A-1494E65AC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E1EF631E-B665-4F06-B821-473E8785C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9096445F-AD7D-A85A-4071-024EE795C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02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F93E63-5E48-6D1B-C052-4FF7EFAB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2C2502-D888-5AA2-466B-5378E9121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0EA959C3-02A5-4A05-265A-814C0C143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7E9AA9F-9C0D-DFC0-BD44-09D0A2C50F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CBF9BDF1-20C4-B8A3-EF97-59CDAAE6D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35A816FD-84C9-40F3-65EA-0DDFCAA1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DF6F38DF-85F8-758F-CC8B-4C4AB8A81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2366E081-F99D-8424-A6D0-4FE9F41F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51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DF24C5-3619-ED71-601E-60153C26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5BB2E0FF-C5F8-1350-083F-08BCA823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3E86E360-4F1D-EE2A-5665-0FEADDEEE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6469AC6-4012-3099-7FAA-8AE170C6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12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C6623847-A155-B2CF-BB74-20B19A29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490BADF1-1F37-C15A-3075-D8E517697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217DE37-F1F7-4879-6AB4-B9401C2C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DF4FE1-378F-CAE4-BE81-26F1C1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92CEEE4-E032-F568-D89D-657F434A0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0DB1856-3BEE-FD9F-A830-DD77925AC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2492C797-145B-92D3-83EE-F8831D1E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C55D5814-0220-C628-8793-C92958E0F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DE475BE-CD05-1A1F-1889-7C3F45C6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89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F74E68-3D7D-E759-5629-C13247446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611929B1-0AA7-BEC6-FADE-052A41B204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AA3A305-3FDF-B952-93AE-09705D474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B8884FEB-B20F-F70A-7A31-E769717D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D98D175D-1743-1064-225E-86F3D420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82BB0A3D-EF37-6037-C252-AE0F3D7F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6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84DC8F-1191-2FB7-03DA-A3E7523A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8323596C-BB92-C6A8-D80B-86E97EE3C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13F741A-032F-FAEA-F312-011943DC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4C9F16F-BA23-7556-E64F-08D9398BC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ADA6969-6CF9-7AAB-B274-7B04DD13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0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D7F2FA52-5936-0955-2325-F9E5B6303E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9DA25AEF-0ACE-317C-4955-8E028F643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AB988AD-14EC-6B90-FF0F-AF0793295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4575AA9-331C-F766-132F-53B308E4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D61751F-6DDA-8559-F94E-A4EE8D7D4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94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DA444309-211B-011C-A071-7A801A89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CD1BFCD-038C-2C85-48A3-37100FE0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6E05C20-7725-DFC4-701F-9CDE0B6A9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1DC42-BB3F-4FBB-9AF0-2B1ECF3A142F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D73A91A-FDBC-3BEC-5655-BE6F62E99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5EFDB8C-8C4D-8D1E-17CD-D429C6A8C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F149C-99F0-455B-BF45-FCAC46BF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0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24078EC3-BC8B-23E8-C737-CEC449A4E2D3}"/>
              </a:ext>
            </a:extLst>
          </p:cNvPr>
          <p:cNvSpPr txBox="1"/>
          <p:nvPr/>
        </p:nvSpPr>
        <p:spPr>
          <a:xfrm>
            <a:off x="1137921" y="2850363"/>
            <a:ext cx="10227386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800" b="1" dirty="0">
                <a:solidFill>
                  <a:srgbClr val="1B1B1B"/>
                </a:solidFill>
              </a:rPr>
              <a:t>Automatic PLCs Devices Collector</a:t>
            </a:r>
          </a:p>
        </p:txBody>
      </p:sp>
      <p:sp>
        <p:nvSpPr>
          <p:cNvPr id="5" name="Obdĺžnik 4">
            <a:extLst>
              <a:ext uri="{FF2B5EF4-FFF2-40B4-BE49-F238E27FC236}">
                <a16:creationId xmlns:a16="http://schemas.microsoft.com/office/drawing/2014/main" id="{E931E62C-2AF6-8954-4D55-4D413AD206EC}"/>
              </a:ext>
            </a:extLst>
          </p:cNvPr>
          <p:cNvSpPr/>
          <p:nvPr/>
        </p:nvSpPr>
        <p:spPr>
          <a:xfrm>
            <a:off x="4815348" y="4007637"/>
            <a:ext cx="6350000" cy="5588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From raw projects to lifecycle analytics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8D28B45C-8C5E-836A-402F-C015AF584A86}"/>
              </a:ext>
            </a:extLst>
          </p:cNvPr>
          <p:cNvSpPr txBox="1"/>
          <p:nvPr/>
        </p:nvSpPr>
        <p:spPr>
          <a:xfrm>
            <a:off x="9001431" y="4630198"/>
            <a:ext cx="8035413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dirty="0">
                <a:solidFill>
                  <a:srgbClr val="1B1B1B"/>
                </a:solidFill>
              </a:rPr>
              <a:t>Marek Malina</a:t>
            </a:r>
          </a:p>
        </p:txBody>
      </p:sp>
    </p:spTree>
    <p:extLst>
      <p:ext uri="{BB962C8B-B14F-4D97-AF65-F5344CB8AC3E}">
        <p14:creationId xmlns:p14="http://schemas.microsoft.com/office/powerpoint/2010/main" val="3668233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3DFE263D-4871-DB81-9D43-93FCD4F04B6E}"/>
              </a:ext>
            </a:extLst>
          </p:cNvPr>
          <p:cNvSpPr txBox="1"/>
          <p:nvPr/>
        </p:nvSpPr>
        <p:spPr>
          <a:xfrm>
            <a:off x="381000" y="203200"/>
            <a:ext cx="11430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 b="1" dirty="0">
                <a:solidFill>
                  <a:srgbClr val="1B1B1B"/>
                </a:solidFill>
              </a:rPr>
              <a:t>Data Pipeline</a:t>
            </a:r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F3D9C5BF-591D-7A18-912F-54A37F0B0D9F}"/>
              </a:ext>
            </a:extLst>
          </p:cNvPr>
          <p:cNvSpPr/>
          <p:nvPr/>
        </p:nvSpPr>
        <p:spPr>
          <a:xfrm>
            <a:off x="2547374" y="2844800"/>
            <a:ext cx="7239000" cy="203200"/>
          </a:xfrm>
          <a:prstGeom prst="round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527875FF-0CE9-D22C-369B-A7020E050304}"/>
              </a:ext>
            </a:extLst>
          </p:cNvPr>
          <p:cNvSpPr/>
          <p:nvPr/>
        </p:nvSpPr>
        <p:spPr>
          <a:xfrm>
            <a:off x="5934587" y="2311400"/>
            <a:ext cx="2209800" cy="1117600"/>
          </a:xfrm>
          <a:prstGeom prst="rect">
            <a:avLst/>
          </a:prstGeom>
          <a:solidFill>
            <a:srgbClr val="FEF0E8"/>
          </a:solidFill>
          <a:ln>
            <a:solidFill>
              <a:srgbClr val="BD81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1F1F1F"/>
                </a:solidFill>
              </a:rPr>
              <a:t>Tia15-21_DevicesExporter</a:t>
            </a:r>
          </a:p>
        </p:txBody>
      </p:sp>
      <p:sp>
        <p:nvSpPr>
          <p:cNvPr id="7" name="Obdĺžnik: zaoblené rohy 6">
            <a:extLst>
              <a:ext uri="{FF2B5EF4-FFF2-40B4-BE49-F238E27FC236}">
                <a16:creationId xmlns:a16="http://schemas.microsoft.com/office/drawing/2014/main" id="{38FA3180-9556-F62C-14C8-12E9F85AA28E}"/>
              </a:ext>
            </a:extLst>
          </p:cNvPr>
          <p:cNvSpPr/>
          <p:nvPr/>
        </p:nvSpPr>
        <p:spPr>
          <a:xfrm>
            <a:off x="3027515" y="1470799"/>
            <a:ext cx="6008329" cy="203200"/>
          </a:xfrm>
          <a:prstGeom prst="round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27BD55FB-6454-7C4D-96FF-728429121D4E}"/>
              </a:ext>
            </a:extLst>
          </p:cNvPr>
          <p:cNvSpPr/>
          <p:nvPr/>
        </p:nvSpPr>
        <p:spPr>
          <a:xfrm>
            <a:off x="3446206" y="1013599"/>
            <a:ext cx="2209800" cy="1117600"/>
          </a:xfrm>
          <a:prstGeom prst="rect">
            <a:avLst/>
          </a:prstGeom>
          <a:solidFill>
            <a:srgbClr val="FEF0E8"/>
          </a:solidFill>
          <a:ln>
            <a:solidFill>
              <a:srgbClr val="BD81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1F1F1F"/>
                </a:solidFill>
              </a:rPr>
              <a:t>Step7_ConfigsExporter</a:t>
            </a:r>
          </a:p>
        </p:txBody>
      </p:sp>
      <p:sp>
        <p:nvSpPr>
          <p:cNvPr id="9" name="Obdĺžnik: zaoblené rohy 8">
            <a:extLst>
              <a:ext uri="{FF2B5EF4-FFF2-40B4-BE49-F238E27FC236}">
                <a16:creationId xmlns:a16="http://schemas.microsoft.com/office/drawing/2014/main" id="{07DF45B1-305F-2551-583A-7BA6B4BC40CD}"/>
              </a:ext>
            </a:extLst>
          </p:cNvPr>
          <p:cNvSpPr/>
          <p:nvPr/>
        </p:nvSpPr>
        <p:spPr>
          <a:xfrm>
            <a:off x="3027515" y="1470799"/>
            <a:ext cx="209346" cy="2849602"/>
          </a:xfrm>
          <a:prstGeom prst="round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21FE69B3-A9D6-6C9A-CE45-FB9BBE634D3B}"/>
              </a:ext>
            </a:extLst>
          </p:cNvPr>
          <p:cNvSpPr/>
          <p:nvPr/>
        </p:nvSpPr>
        <p:spPr>
          <a:xfrm>
            <a:off x="5934587" y="1013599"/>
            <a:ext cx="2209800" cy="1117600"/>
          </a:xfrm>
          <a:prstGeom prst="rect">
            <a:avLst/>
          </a:prstGeom>
          <a:solidFill>
            <a:srgbClr val="FEF0E8"/>
          </a:solidFill>
          <a:ln>
            <a:solidFill>
              <a:srgbClr val="BD81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1F1F1F"/>
                </a:solidFill>
              </a:rPr>
              <a:t>Step7_DevicesExporter</a:t>
            </a:r>
          </a:p>
        </p:txBody>
      </p:sp>
      <p:sp>
        <p:nvSpPr>
          <p:cNvPr id="11" name="Obdĺžnik: zaoblené rohy 10">
            <a:extLst>
              <a:ext uri="{FF2B5EF4-FFF2-40B4-BE49-F238E27FC236}">
                <a16:creationId xmlns:a16="http://schemas.microsoft.com/office/drawing/2014/main" id="{2648146A-E9B4-59E8-D0BF-43E93785709A}"/>
              </a:ext>
            </a:extLst>
          </p:cNvPr>
          <p:cNvSpPr/>
          <p:nvPr/>
        </p:nvSpPr>
        <p:spPr>
          <a:xfrm>
            <a:off x="9575800" y="2844800"/>
            <a:ext cx="279400" cy="203200"/>
          </a:xfrm>
          <a:prstGeom prst="round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Obdĺžnik 11">
            <a:extLst>
              <a:ext uri="{FF2B5EF4-FFF2-40B4-BE49-F238E27FC236}">
                <a16:creationId xmlns:a16="http://schemas.microsoft.com/office/drawing/2014/main" id="{FDD5AA22-9923-4BD7-E2F5-D8FCD944D6AB}"/>
              </a:ext>
            </a:extLst>
          </p:cNvPr>
          <p:cNvSpPr/>
          <p:nvPr/>
        </p:nvSpPr>
        <p:spPr>
          <a:xfrm>
            <a:off x="9652000" y="2387600"/>
            <a:ext cx="2209800" cy="1117600"/>
          </a:xfrm>
          <a:prstGeom prst="rect">
            <a:avLst/>
          </a:prstGeom>
          <a:solidFill>
            <a:srgbClr val="FEF0E8"/>
          </a:solidFill>
          <a:ln>
            <a:solidFill>
              <a:srgbClr val="BD81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1F1F1F"/>
                </a:solidFill>
              </a:rPr>
              <a:t>Devices_Processor</a:t>
            </a:r>
          </a:p>
        </p:txBody>
      </p:sp>
      <p:sp>
        <p:nvSpPr>
          <p:cNvPr id="4" name="Obdĺžnik 3">
            <a:extLst>
              <a:ext uri="{FF2B5EF4-FFF2-40B4-BE49-F238E27FC236}">
                <a16:creationId xmlns:a16="http://schemas.microsoft.com/office/drawing/2014/main" id="{3249A5C7-C51D-78CD-5238-2DBB4097A1ED}"/>
              </a:ext>
            </a:extLst>
          </p:cNvPr>
          <p:cNvSpPr/>
          <p:nvPr/>
        </p:nvSpPr>
        <p:spPr>
          <a:xfrm>
            <a:off x="406400" y="2387600"/>
            <a:ext cx="2209800" cy="1117600"/>
          </a:xfrm>
          <a:prstGeom prst="rect">
            <a:avLst/>
          </a:prstGeom>
          <a:solidFill>
            <a:srgbClr val="FEF0E8"/>
          </a:solidFill>
          <a:ln>
            <a:solidFill>
              <a:srgbClr val="BD81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1F1F1F"/>
                </a:solidFill>
              </a:rPr>
              <a:t>ProjectsScannerCopier</a:t>
            </a:r>
          </a:p>
        </p:txBody>
      </p:sp>
      <p:sp>
        <p:nvSpPr>
          <p:cNvPr id="15" name="Obdĺžnik: zaoblené rohy 14">
            <a:extLst>
              <a:ext uri="{FF2B5EF4-FFF2-40B4-BE49-F238E27FC236}">
                <a16:creationId xmlns:a16="http://schemas.microsoft.com/office/drawing/2014/main" id="{7A70762F-C1AD-4B18-AA05-011CC5817332}"/>
              </a:ext>
            </a:extLst>
          </p:cNvPr>
          <p:cNvSpPr/>
          <p:nvPr/>
        </p:nvSpPr>
        <p:spPr>
          <a:xfrm>
            <a:off x="3027515" y="4117201"/>
            <a:ext cx="6008329" cy="203200"/>
          </a:xfrm>
          <a:prstGeom prst="round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76CDED8F-E811-5FF8-C260-B6ECEFEA232C}"/>
              </a:ext>
            </a:extLst>
          </p:cNvPr>
          <p:cNvSpPr/>
          <p:nvPr/>
        </p:nvSpPr>
        <p:spPr>
          <a:xfrm>
            <a:off x="8833668" y="1497838"/>
            <a:ext cx="197671" cy="2822563"/>
          </a:xfrm>
          <a:prstGeom prst="round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Obdĺžnik 13">
            <a:extLst>
              <a:ext uri="{FF2B5EF4-FFF2-40B4-BE49-F238E27FC236}">
                <a16:creationId xmlns:a16="http://schemas.microsoft.com/office/drawing/2014/main" id="{E5DCD3CF-D5A8-FAED-E103-7BA3C53CF6B2}"/>
              </a:ext>
            </a:extLst>
          </p:cNvPr>
          <p:cNvSpPr/>
          <p:nvPr/>
        </p:nvSpPr>
        <p:spPr>
          <a:xfrm>
            <a:off x="5934587" y="3616576"/>
            <a:ext cx="2209800" cy="1117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bg1">
                    <a:lumMod val="85000"/>
                  </a:schemeClr>
                </a:solidFill>
              </a:rPr>
              <a:t>Rockwell_DevicesExporter</a:t>
            </a:r>
            <a:endParaRPr lang="en-US" sz="14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96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90736B56-7B3E-7E52-1A3B-172F2EF5308D}"/>
              </a:ext>
            </a:extLst>
          </p:cNvPr>
          <p:cNvSpPr txBox="1"/>
          <p:nvPr/>
        </p:nvSpPr>
        <p:spPr>
          <a:xfrm>
            <a:off x="381000" y="203200"/>
            <a:ext cx="11430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 b="1" dirty="0">
                <a:solidFill>
                  <a:srgbClr val="1B1B1B"/>
                </a:solidFill>
              </a:rPr>
              <a:t>Inputs &amp; Outputs of Individual Apps</a:t>
            </a:r>
          </a:p>
        </p:txBody>
      </p:sp>
      <p:sp>
        <p:nvSpPr>
          <p:cNvPr id="4" name="Obdĺžnik 3">
            <a:extLst>
              <a:ext uri="{FF2B5EF4-FFF2-40B4-BE49-F238E27FC236}">
                <a16:creationId xmlns:a16="http://schemas.microsoft.com/office/drawing/2014/main" id="{04550CB7-9677-7841-7D74-6C5F45851F0A}"/>
              </a:ext>
            </a:extLst>
          </p:cNvPr>
          <p:cNvSpPr/>
          <p:nvPr/>
        </p:nvSpPr>
        <p:spPr>
          <a:xfrm>
            <a:off x="614519" y="3332650"/>
            <a:ext cx="2807107" cy="1467464"/>
          </a:xfrm>
          <a:prstGeom prst="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B91D5739-DB65-640B-1627-2D605838F478}"/>
              </a:ext>
            </a:extLst>
          </p:cNvPr>
          <p:cNvSpPr txBox="1"/>
          <p:nvPr/>
        </p:nvSpPr>
        <p:spPr>
          <a:xfrm>
            <a:off x="766918" y="3459649"/>
            <a:ext cx="2604763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ProjectsScannerCopier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0034A043-35C6-06E8-8182-FA52B08F5E6E}"/>
              </a:ext>
            </a:extLst>
          </p:cNvPr>
          <p:cNvSpPr txBox="1"/>
          <p:nvPr/>
        </p:nvSpPr>
        <p:spPr>
          <a:xfrm>
            <a:off x="766918" y="3764450"/>
            <a:ext cx="2604763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IN: archive folders</a:t>
            </a:r>
          </a:p>
          <a:p>
            <a:r>
              <a:rPr lang="en-US" sz="1600" dirty="0">
                <a:solidFill>
                  <a:srgbClr val="FFFFFF"/>
                </a:solidFill>
              </a:rPr>
              <a:t>OUT: </a:t>
            </a:r>
            <a:r>
              <a:rPr lang="en-US" sz="1600" dirty="0" err="1">
                <a:solidFill>
                  <a:srgbClr val="FFFFFF"/>
                </a:solidFill>
              </a:rPr>
              <a:t>collected_projects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854D65FD-9F4B-D768-693F-08378F0B4A7C}"/>
              </a:ext>
            </a:extLst>
          </p:cNvPr>
          <p:cNvSpPr/>
          <p:nvPr/>
        </p:nvSpPr>
        <p:spPr>
          <a:xfrm>
            <a:off x="4714569" y="3332650"/>
            <a:ext cx="3073400" cy="1467465"/>
          </a:xfrm>
          <a:prstGeom prst="rect">
            <a:avLst/>
          </a:prstGeom>
          <a:solidFill>
            <a:srgbClr val="47AD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5DE278EB-7EF1-6EF7-3007-37FC1822FB3E}"/>
              </a:ext>
            </a:extLst>
          </p:cNvPr>
          <p:cNvSpPr txBox="1"/>
          <p:nvPr/>
        </p:nvSpPr>
        <p:spPr>
          <a:xfrm>
            <a:off x="4866968" y="3459650"/>
            <a:ext cx="305100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Tia15-21_DevicesExporter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C956A87B-D050-CF03-6F24-351BFB475478}"/>
              </a:ext>
            </a:extLst>
          </p:cNvPr>
          <p:cNvSpPr txBox="1"/>
          <p:nvPr/>
        </p:nvSpPr>
        <p:spPr>
          <a:xfrm>
            <a:off x="4866968" y="3764450"/>
            <a:ext cx="30734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IN: </a:t>
            </a:r>
            <a:r>
              <a:rPr lang="en-US" sz="1600" dirty="0" err="1">
                <a:solidFill>
                  <a:srgbClr val="FFFFFF"/>
                </a:solidFill>
              </a:rPr>
              <a:t>tiaXX</a:t>
            </a:r>
            <a:r>
              <a:rPr lang="en-US" sz="1600" dirty="0">
                <a:solidFill>
                  <a:srgbClr val="FFFFFF"/>
                </a:solidFill>
              </a:rPr>
              <a:t> projects</a:t>
            </a:r>
          </a:p>
          <a:p>
            <a:r>
              <a:rPr lang="en-US" sz="1600" dirty="0">
                <a:solidFill>
                  <a:srgbClr val="FFFFFF"/>
                </a:solidFill>
              </a:rPr>
              <a:t>OUT: </a:t>
            </a:r>
            <a:r>
              <a:rPr lang="en-US" sz="1600" dirty="0" err="1">
                <a:solidFill>
                  <a:srgbClr val="FFFFFF"/>
                </a:solidFill>
              </a:rPr>
              <a:t>collected_components</a:t>
            </a:r>
            <a:r>
              <a:rPr lang="en-US" sz="1600" dirty="0">
                <a:solidFill>
                  <a:srgbClr val="FFFFFF"/>
                </a:solidFill>
              </a:rPr>
              <a:t>/</a:t>
            </a:r>
            <a:r>
              <a:rPr lang="en-US" sz="1600" dirty="0" err="1">
                <a:solidFill>
                  <a:srgbClr val="FFFFFF"/>
                </a:solidFill>
              </a:rPr>
              <a:t>tiaXX</a:t>
            </a:r>
            <a:r>
              <a:rPr lang="en-US" sz="1600" dirty="0">
                <a:solidFill>
                  <a:srgbClr val="FFFFFF"/>
                </a:solidFill>
              </a:rPr>
              <a:t> JSON</a:t>
            </a:r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CD3E90DA-E667-CFA8-2560-534E9F6A4708}"/>
              </a:ext>
            </a:extLst>
          </p:cNvPr>
          <p:cNvSpPr/>
          <p:nvPr/>
        </p:nvSpPr>
        <p:spPr>
          <a:xfrm>
            <a:off x="1829620" y="1757397"/>
            <a:ext cx="2641600" cy="1433052"/>
          </a:xfrm>
          <a:prstGeom prst="rect">
            <a:avLst/>
          </a:prstGeom>
          <a:solidFill>
            <a:srgbClr val="317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DCF20593-79D2-AB55-F61B-49DEE500362B}"/>
              </a:ext>
            </a:extLst>
          </p:cNvPr>
          <p:cNvSpPr txBox="1"/>
          <p:nvPr/>
        </p:nvSpPr>
        <p:spPr>
          <a:xfrm>
            <a:off x="1982020" y="1884397"/>
            <a:ext cx="24892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Step7_ConfigsExporter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3B94CE59-F850-867A-8C94-E3AEA162B6A3}"/>
              </a:ext>
            </a:extLst>
          </p:cNvPr>
          <p:cNvSpPr txBox="1"/>
          <p:nvPr/>
        </p:nvSpPr>
        <p:spPr>
          <a:xfrm>
            <a:off x="1982020" y="2189197"/>
            <a:ext cx="24892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IN: step7 projects</a:t>
            </a:r>
          </a:p>
          <a:p>
            <a:r>
              <a:rPr lang="en-US" sz="1600" dirty="0">
                <a:solidFill>
                  <a:srgbClr val="FFFFFF"/>
                </a:solidFill>
              </a:rPr>
              <a:t>OUT: </a:t>
            </a:r>
            <a:r>
              <a:rPr lang="en-US" sz="1600" dirty="0" err="1">
                <a:solidFill>
                  <a:srgbClr val="FFFFFF"/>
                </a:solidFill>
              </a:rPr>
              <a:t>cfg</a:t>
            </a:r>
            <a:r>
              <a:rPr lang="en-US" sz="1600" dirty="0">
                <a:solidFill>
                  <a:srgbClr val="FFFFFF"/>
                </a:solidFill>
              </a:rPr>
              <a:t> exports</a:t>
            </a:r>
          </a:p>
        </p:txBody>
      </p:sp>
      <p:sp>
        <p:nvSpPr>
          <p:cNvPr id="13" name="Obdĺžnik 12">
            <a:extLst>
              <a:ext uri="{FF2B5EF4-FFF2-40B4-BE49-F238E27FC236}">
                <a16:creationId xmlns:a16="http://schemas.microsoft.com/office/drawing/2014/main" id="{65B840EB-F9DD-6580-4160-148B64E3BADA}"/>
              </a:ext>
            </a:extLst>
          </p:cNvPr>
          <p:cNvSpPr/>
          <p:nvPr/>
        </p:nvSpPr>
        <p:spPr>
          <a:xfrm>
            <a:off x="4725220" y="1744288"/>
            <a:ext cx="3215148" cy="1446162"/>
          </a:xfrm>
          <a:prstGeom prst="rect">
            <a:avLst/>
          </a:prstGeom>
          <a:solidFill>
            <a:srgbClr val="A264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AD5AD44C-CC8A-46F4-BA9B-4D899E69DB20}"/>
              </a:ext>
            </a:extLst>
          </p:cNvPr>
          <p:cNvSpPr txBox="1"/>
          <p:nvPr/>
        </p:nvSpPr>
        <p:spPr>
          <a:xfrm>
            <a:off x="4877620" y="1871287"/>
            <a:ext cx="250387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Step7_DevicesExporter</a:t>
            </a: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0FB379D1-7823-7D3A-EE27-AAF7EC2C8CB8}"/>
              </a:ext>
            </a:extLst>
          </p:cNvPr>
          <p:cNvSpPr txBox="1"/>
          <p:nvPr/>
        </p:nvSpPr>
        <p:spPr>
          <a:xfrm>
            <a:off x="4877620" y="2176087"/>
            <a:ext cx="3062163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IN: step7 </a:t>
            </a:r>
            <a:r>
              <a:rPr lang="en-US" sz="1600" dirty="0" err="1">
                <a:solidFill>
                  <a:srgbClr val="FFFFFF"/>
                </a:solidFill>
              </a:rPr>
              <a:t>cfg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OUT: </a:t>
            </a:r>
            <a:r>
              <a:rPr lang="en-US" sz="1600" dirty="0" err="1">
                <a:solidFill>
                  <a:srgbClr val="FFFFFF"/>
                </a:solidFill>
              </a:rPr>
              <a:t>collected_components</a:t>
            </a:r>
            <a:r>
              <a:rPr lang="en-US" sz="1600" dirty="0">
                <a:solidFill>
                  <a:srgbClr val="FFFFFF"/>
                </a:solidFill>
              </a:rPr>
              <a:t>/step7 JSON</a:t>
            </a:r>
          </a:p>
        </p:txBody>
      </p:sp>
      <p:sp>
        <p:nvSpPr>
          <p:cNvPr id="16" name="Obdĺžnik 15">
            <a:extLst>
              <a:ext uri="{FF2B5EF4-FFF2-40B4-BE49-F238E27FC236}">
                <a16:creationId xmlns:a16="http://schemas.microsoft.com/office/drawing/2014/main" id="{CCDAB760-2909-6A1A-A953-5B4DB422F4E1}"/>
              </a:ext>
            </a:extLst>
          </p:cNvPr>
          <p:cNvSpPr/>
          <p:nvPr/>
        </p:nvSpPr>
        <p:spPr>
          <a:xfrm>
            <a:off x="7940368" y="3332650"/>
            <a:ext cx="3320845" cy="1467465"/>
          </a:xfrm>
          <a:prstGeom prst="rect">
            <a:avLst/>
          </a:prstGeom>
          <a:solidFill>
            <a:srgbClr val="0000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3A485089-F8F0-2BA8-0969-09A8DA9B28C7}"/>
              </a:ext>
            </a:extLst>
          </p:cNvPr>
          <p:cNvSpPr txBox="1"/>
          <p:nvPr/>
        </p:nvSpPr>
        <p:spPr>
          <a:xfrm>
            <a:off x="8092768" y="3429000"/>
            <a:ext cx="6394245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 err="1">
                <a:solidFill>
                  <a:srgbClr val="FFFFFF"/>
                </a:solidFill>
              </a:rPr>
              <a:t>Devices_Processor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5D6CB582-0DE4-C166-AFD2-5045E5C160A2}"/>
              </a:ext>
            </a:extLst>
          </p:cNvPr>
          <p:cNvSpPr txBox="1"/>
          <p:nvPr/>
        </p:nvSpPr>
        <p:spPr>
          <a:xfrm>
            <a:off x="8092768" y="3764451"/>
            <a:ext cx="3190835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IN: </a:t>
            </a:r>
            <a:r>
              <a:rPr lang="en-US" sz="1600" dirty="0" err="1">
                <a:solidFill>
                  <a:srgbClr val="FFFFFF"/>
                </a:solidFill>
              </a:rPr>
              <a:t>collected_components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OUT: Excel files + Access DB + downloaded images + lifecycle enrichment</a:t>
            </a:r>
          </a:p>
        </p:txBody>
      </p:sp>
    </p:spTree>
    <p:extLst>
      <p:ext uri="{BB962C8B-B14F-4D97-AF65-F5344CB8AC3E}">
        <p14:creationId xmlns:p14="http://schemas.microsoft.com/office/powerpoint/2010/main" val="992440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F9B49B68-A123-0C4F-57D2-D64B2483DDB3}"/>
              </a:ext>
            </a:extLst>
          </p:cNvPr>
          <p:cNvSpPr txBox="1"/>
          <p:nvPr/>
        </p:nvSpPr>
        <p:spPr>
          <a:xfrm>
            <a:off x="381000" y="203200"/>
            <a:ext cx="11430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400" b="1">
                <a:solidFill>
                  <a:srgbClr val="1B1B1B"/>
                </a:solidFill>
              </a:rPr>
              <a:t>Projects by Group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F7C51542-F05D-E86E-6FAF-0939236EACAF}"/>
              </a:ext>
            </a:extLst>
          </p:cNvPr>
          <p:cNvSpPr txBox="1"/>
          <p:nvPr/>
        </p:nvSpPr>
        <p:spPr>
          <a:xfrm>
            <a:off x="304800" y="13335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step7</a:t>
            </a: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D1FBA48A-8FB7-A835-4EC6-268A1A36B81B}"/>
              </a:ext>
            </a:extLst>
          </p:cNvPr>
          <p:cNvSpPr/>
          <p:nvPr/>
        </p:nvSpPr>
        <p:spPr>
          <a:xfrm>
            <a:off x="3797300" y="13716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C80BB5D7-304F-B143-7E92-26C4B9BCB722}"/>
              </a:ext>
            </a:extLst>
          </p:cNvPr>
          <p:cNvSpPr/>
          <p:nvPr/>
        </p:nvSpPr>
        <p:spPr>
          <a:xfrm>
            <a:off x="3797300" y="1371600"/>
            <a:ext cx="7010400" cy="304800"/>
          </a:xfrm>
          <a:prstGeom prst="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1E3F0F00-7277-F043-E34B-068607BA7A2F}"/>
              </a:ext>
            </a:extLst>
          </p:cNvPr>
          <p:cNvSpPr txBox="1"/>
          <p:nvPr/>
        </p:nvSpPr>
        <p:spPr>
          <a:xfrm>
            <a:off x="10896600" y="13208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75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3FEEDD12-DE68-BDBF-F018-85B21A2E6EEE}"/>
              </a:ext>
            </a:extLst>
          </p:cNvPr>
          <p:cNvSpPr txBox="1"/>
          <p:nvPr/>
        </p:nvSpPr>
        <p:spPr>
          <a:xfrm>
            <a:off x="304800" y="19685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tia19</a:t>
            </a:r>
          </a:p>
        </p:txBody>
      </p:sp>
      <p:sp>
        <p:nvSpPr>
          <p:cNvPr id="11" name="Obdĺžnik 10">
            <a:extLst>
              <a:ext uri="{FF2B5EF4-FFF2-40B4-BE49-F238E27FC236}">
                <a16:creationId xmlns:a16="http://schemas.microsoft.com/office/drawing/2014/main" id="{4FE4D56E-2337-E602-1B61-E0A59AF95F20}"/>
              </a:ext>
            </a:extLst>
          </p:cNvPr>
          <p:cNvSpPr/>
          <p:nvPr/>
        </p:nvSpPr>
        <p:spPr>
          <a:xfrm>
            <a:off x="3797300" y="20066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2" name="Obdĺžnik 11">
            <a:extLst>
              <a:ext uri="{FF2B5EF4-FFF2-40B4-BE49-F238E27FC236}">
                <a16:creationId xmlns:a16="http://schemas.microsoft.com/office/drawing/2014/main" id="{80AA1AE5-1E4F-F436-B962-B5122A1A8B77}"/>
              </a:ext>
            </a:extLst>
          </p:cNvPr>
          <p:cNvSpPr/>
          <p:nvPr/>
        </p:nvSpPr>
        <p:spPr>
          <a:xfrm>
            <a:off x="3797300" y="2006600"/>
            <a:ext cx="5041900" cy="304800"/>
          </a:xfrm>
          <a:prstGeom prst="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6CB91552-98C9-A306-2870-A2D61E737636}"/>
              </a:ext>
            </a:extLst>
          </p:cNvPr>
          <p:cNvSpPr txBox="1"/>
          <p:nvPr/>
        </p:nvSpPr>
        <p:spPr>
          <a:xfrm>
            <a:off x="10896600" y="19558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54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D96FA820-312C-BE52-7CB2-E03B2C6AF256}"/>
              </a:ext>
            </a:extLst>
          </p:cNvPr>
          <p:cNvSpPr txBox="1"/>
          <p:nvPr/>
        </p:nvSpPr>
        <p:spPr>
          <a:xfrm>
            <a:off x="304800" y="26035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tia16</a:t>
            </a:r>
          </a:p>
        </p:txBody>
      </p:sp>
      <p:sp>
        <p:nvSpPr>
          <p:cNvPr id="15" name="Obdĺžnik 14">
            <a:extLst>
              <a:ext uri="{FF2B5EF4-FFF2-40B4-BE49-F238E27FC236}">
                <a16:creationId xmlns:a16="http://schemas.microsoft.com/office/drawing/2014/main" id="{A8C21F6B-84CB-8F7D-98B7-9F47F3A3AF16}"/>
              </a:ext>
            </a:extLst>
          </p:cNvPr>
          <p:cNvSpPr/>
          <p:nvPr/>
        </p:nvSpPr>
        <p:spPr>
          <a:xfrm>
            <a:off x="3797300" y="26416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6" name="Obdĺžnik 15">
            <a:extLst>
              <a:ext uri="{FF2B5EF4-FFF2-40B4-BE49-F238E27FC236}">
                <a16:creationId xmlns:a16="http://schemas.microsoft.com/office/drawing/2014/main" id="{1E703B02-5BA7-84FA-20DF-DC7B2EB68578}"/>
              </a:ext>
            </a:extLst>
          </p:cNvPr>
          <p:cNvSpPr/>
          <p:nvPr/>
        </p:nvSpPr>
        <p:spPr>
          <a:xfrm>
            <a:off x="3797300" y="2641600"/>
            <a:ext cx="2705100" cy="304800"/>
          </a:xfrm>
          <a:prstGeom prst="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9EA2E03B-940A-F951-2CB4-14B220484757}"/>
              </a:ext>
            </a:extLst>
          </p:cNvPr>
          <p:cNvSpPr txBox="1"/>
          <p:nvPr/>
        </p:nvSpPr>
        <p:spPr>
          <a:xfrm>
            <a:off x="10896600" y="25908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29</a:t>
            </a: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B10E04EC-9833-C76A-D168-CB6330130798}"/>
              </a:ext>
            </a:extLst>
          </p:cNvPr>
          <p:cNvSpPr txBox="1"/>
          <p:nvPr/>
        </p:nvSpPr>
        <p:spPr>
          <a:xfrm>
            <a:off x="304800" y="32385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tia18</a:t>
            </a:r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A19684D5-BA4F-AD04-C607-D30E0B60C30A}"/>
              </a:ext>
            </a:extLst>
          </p:cNvPr>
          <p:cNvSpPr/>
          <p:nvPr/>
        </p:nvSpPr>
        <p:spPr>
          <a:xfrm>
            <a:off x="3797300" y="32766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E280A885-FFB0-66D2-418D-41148FA57226}"/>
              </a:ext>
            </a:extLst>
          </p:cNvPr>
          <p:cNvSpPr/>
          <p:nvPr/>
        </p:nvSpPr>
        <p:spPr>
          <a:xfrm>
            <a:off x="3797300" y="3276600"/>
            <a:ext cx="2527300" cy="304800"/>
          </a:xfrm>
          <a:prstGeom prst="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1" name="BlokTextu 20">
            <a:extLst>
              <a:ext uri="{FF2B5EF4-FFF2-40B4-BE49-F238E27FC236}">
                <a16:creationId xmlns:a16="http://schemas.microsoft.com/office/drawing/2014/main" id="{94313B12-E6B8-CBF5-19B7-1B864C976809}"/>
              </a:ext>
            </a:extLst>
          </p:cNvPr>
          <p:cNvSpPr txBox="1"/>
          <p:nvPr/>
        </p:nvSpPr>
        <p:spPr>
          <a:xfrm>
            <a:off x="10896600" y="32258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27</a:t>
            </a:r>
          </a:p>
        </p:txBody>
      </p:sp>
      <p:sp>
        <p:nvSpPr>
          <p:cNvPr id="22" name="BlokTextu 21">
            <a:extLst>
              <a:ext uri="{FF2B5EF4-FFF2-40B4-BE49-F238E27FC236}">
                <a16:creationId xmlns:a16="http://schemas.microsoft.com/office/drawing/2014/main" id="{55D91CE6-4FD9-F4A7-2167-5FD35969F5BE}"/>
              </a:ext>
            </a:extLst>
          </p:cNvPr>
          <p:cNvSpPr txBox="1"/>
          <p:nvPr/>
        </p:nvSpPr>
        <p:spPr>
          <a:xfrm>
            <a:off x="304800" y="38735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tia17</a:t>
            </a:r>
          </a:p>
        </p:txBody>
      </p:sp>
      <p:sp>
        <p:nvSpPr>
          <p:cNvPr id="23" name="Obdĺžnik 22">
            <a:extLst>
              <a:ext uri="{FF2B5EF4-FFF2-40B4-BE49-F238E27FC236}">
                <a16:creationId xmlns:a16="http://schemas.microsoft.com/office/drawing/2014/main" id="{958B3BCE-88F4-4CE3-D6EE-85D5B2D6CB52}"/>
              </a:ext>
            </a:extLst>
          </p:cNvPr>
          <p:cNvSpPr/>
          <p:nvPr/>
        </p:nvSpPr>
        <p:spPr>
          <a:xfrm>
            <a:off x="3797300" y="39116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4" name="Obdĺžnik 23">
            <a:extLst>
              <a:ext uri="{FF2B5EF4-FFF2-40B4-BE49-F238E27FC236}">
                <a16:creationId xmlns:a16="http://schemas.microsoft.com/office/drawing/2014/main" id="{F6F4BE2B-959F-F4CD-1DC1-CA2D8C2B4721}"/>
              </a:ext>
            </a:extLst>
          </p:cNvPr>
          <p:cNvSpPr/>
          <p:nvPr/>
        </p:nvSpPr>
        <p:spPr>
          <a:xfrm>
            <a:off x="3797300" y="3911600"/>
            <a:ext cx="749300" cy="304800"/>
          </a:xfrm>
          <a:prstGeom prst="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5" name="BlokTextu 24">
            <a:extLst>
              <a:ext uri="{FF2B5EF4-FFF2-40B4-BE49-F238E27FC236}">
                <a16:creationId xmlns:a16="http://schemas.microsoft.com/office/drawing/2014/main" id="{234B7D03-4093-4C4A-C870-E73C6B7AF9B7}"/>
              </a:ext>
            </a:extLst>
          </p:cNvPr>
          <p:cNvSpPr txBox="1"/>
          <p:nvPr/>
        </p:nvSpPr>
        <p:spPr>
          <a:xfrm>
            <a:off x="10896600" y="38608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8</a:t>
            </a:r>
          </a:p>
        </p:txBody>
      </p:sp>
      <p:sp>
        <p:nvSpPr>
          <p:cNvPr id="26" name="BlokTextu 25">
            <a:extLst>
              <a:ext uri="{FF2B5EF4-FFF2-40B4-BE49-F238E27FC236}">
                <a16:creationId xmlns:a16="http://schemas.microsoft.com/office/drawing/2014/main" id="{89F4037D-D426-9DCD-ED44-5C28CEF41C57}"/>
              </a:ext>
            </a:extLst>
          </p:cNvPr>
          <p:cNvSpPr txBox="1"/>
          <p:nvPr/>
        </p:nvSpPr>
        <p:spPr>
          <a:xfrm>
            <a:off x="304800" y="45085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tia20</a:t>
            </a:r>
          </a:p>
        </p:txBody>
      </p:sp>
      <p:sp>
        <p:nvSpPr>
          <p:cNvPr id="27" name="Obdĺžnik 26">
            <a:extLst>
              <a:ext uri="{FF2B5EF4-FFF2-40B4-BE49-F238E27FC236}">
                <a16:creationId xmlns:a16="http://schemas.microsoft.com/office/drawing/2014/main" id="{531AF87A-05A7-B194-C618-CFF57C7E9DAC}"/>
              </a:ext>
            </a:extLst>
          </p:cNvPr>
          <p:cNvSpPr/>
          <p:nvPr/>
        </p:nvSpPr>
        <p:spPr>
          <a:xfrm>
            <a:off x="3797300" y="45466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8" name="Obdĺžnik 27">
            <a:extLst>
              <a:ext uri="{FF2B5EF4-FFF2-40B4-BE49-F238E27FC236}">
                <a16:creationId xmlns:a16="http://schemas.microsoft.com/office/drawing/2014/main" id="{42279711-024C-6913-C520-796671501890}"/>
              </a:ext>
            </a:extLst>
          </p:cNvPr>
          <p:cNvSpPr/>
          <p:nvPr/>
        </p:nvSpPr>
        <p:spPr>
          <a:xfrm>
            <a:off x="3797300" y="4546600"/>
            <a:ext cx="660400" cy="304800"/>
          </a:xfrm>
          <a:prstGeom prst="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9" name="BlokTextu 28">
            <a:extLst>
              <a:ext uri="{FF2B5EF4-FFF2-40B4-BE49-F238E27FC236}">
                <a16:creationId xmlns:a16="http://schemas.microsoft.com/office/drawing/2014/main" id="{031DBB3B-EC4C-F199-C90D-6119348CFB72}"/>
              </a:ext>
            </a:extLst>
          </p:cNvPr>
          <p:cNvSpPr txBox="1"/>
          <p:nvPr/>
        </p:nvSpPr>
        <p:spPr>
          <a:xfrm>
            <a:off x="10896600" y="44958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7</a:t>
            </a:r>
          </a:p>
        </p:txBody>
      </p:sp>
      <p:sp>
        <p:nvSpPr>
          <p:cNvPr id="30" name="BlokTextu 29">
            <a:extLst>
              <a:ext uri="{FF2B5EF4-FFF2-40B4-BE49-F238E27FC236}">
                <a16:creationId xmlns:a16="http://schemas.microsoft.com/office/drawing/2014/main" id="{3762ED65-F211-87EC-7C0F-26FC2EDD1BE2}"/>
              </a:ext>
            </a:extLst>
          </p:cNvPr>
          <p:cNvSpPr txBox="1"/>
          <p:nvPr/>
        </p:nvSpPr>
        <p:spPr>
          <a:xfrm>
            <a:off x="304800" y="51435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tia15_1</a:t>
            </a:r>
          </a:p>
        </p:txBody>
      </p:sp>
      <p:sp>
        <p:nvSpPr>
          <p:cNvPr id="31" name="Obdĺžnik 30">
            <a:extLst>
              <a:ext uri="{FF2B5EF4-FFF2-40B4-BE49-F238E27FC236}">
                <a16:creationId xmlns:a16="http://schemas.microsoft.com/office/drawing/2014/main" id="{BDA87EE2-4B96-7C81-178A-D1593A2AD850}"/>
              </a:ext>
            </a:extLst>
          </p:cNvPr>
          <p:cNvSpPr/>
          <p:nvPr/>
        </p:nvSpPr>
        <p:spPr>
          <a:xfrm>
            <a:off x="3797300" y="51816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2" name="Obdĺžnik 31">
            <a:extLst>
              <a:ext uri="{FF2B5EF4-FFF2-40B4-BE49-F238E27FC236}">
                <a16:creationId xmlns:a16="http://schemas.microsoft.com/office/drawing/2014/main" id="{A2517E6A-9DF3-78EF-8E8E-9B67475B683A}"/>
              </a:ext>
            </a:extLst>
          </p:cNvPr>
          <p:cNvSpPr/>
          <p:nvPr/>
        </p:nvSpPr>
        <p:spPr>
          <a:xfrm>
            <a:off x="3797300" y="5181600"/>
            <a:ext cx="469900" cy="304800"/>
          </a:xfrm>
          <a:prstGeom prst="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3" name="BlokTextu 32">
            <a:extLst>
              <a:ext uri="{FF2B5EF4-FFF2-40B4-BE49-F238E27FC236}">
                <a16:creationId xmlns:a16="http://schemas.microsoft.com/office/drawing/2014/main" id="{D106DBBA-6454-627D-C685-FE1B51AF801F}"/>
              </a:ext>
            </a:extLst>
          </p:cNvPr>
          <p:cNvSpPr txBox="1"/>
          <p:nvPr/>
        </p:nvSpPr>
        <p:spPr>
          <a:xfrm>
            <a:off x="10896600" y="51308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5</a:t>
            </a:r>
          </a:p>
        </p:txBody>
      </p:sp>
      <p:sp>
        <p:nvSpPr>
          <p:cNvPr id="34" name="BlokTextu 33">
            <a:extLst>
              <a:ext uri="{FF2B5EF4-FFF2-40B4-BE49-F238E27FC236}">
                <a16:creationId xmlns:a16="http://schemas.microsoft.com/office/drawing/2014/main" id="{8965DA95-205B-A1DE-1E6C-95FBD5664A8C}"/>
              </a:ext>
            </a:extLst>
          </p:cNvPr>
          <p:cNvSpPr txBox="1"/>
          <p:nvPr/>
        </p:nvSpPr>
        <p:spPr>
          <a:xfrm>
            <a:off x="304800" y="57785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tia15</a:t>
            </a:r>
          </a:p>
        </p:txBody>
      </p:sp>
      <p:sp>
        <p:nvSpPr>
          <p:cNvPr id="35" name="Obdĺžnik 34">
            <a:extLst>
              <a:ext uri="{FF2B5EF4-FFF2-40B4-BE49-F238E27FC236}">
                <a16:creationId xmlns:a16="http://schemas.microsoft.com/office/drawing/2014/main" id="{2B589DEF-0CEB-B66C-225B-0C07A95D6CAC}"/>
              </a:ext>
            </a:extLst>
          </p:cNvPr>
          <p:cNvSpPr/>
          <p:nvPr/>
        </p:nvSpPr>
        <p:spPr>
          <a:xfrm>
            <a:off x="3797300" y="58166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6" name="Obdĺžnik 35">
            <a:extLst>
              <a:ext uri="{FF2B5EF4-FFF2-40B4-BE49-F238E27FC236}">
                <a16:creationId xmlns:a16="http://schemas.microsoft.com/office/drawing/2014/main" id="{608C4F22-844E-3BA3-5132-434B15979A10}"/>
              </a:ext>
            </a:extLst>
          </p:cNvPr>
          <p:cNvSpPr/>
          <p:nvPr/>
        </p:nvSpPr>
        <p:spPr>
          <a:xfrm>
            <a:off x="3797300" y="5816600"/>
            <a:ext cx="127000" cy="304800"/>
          </a:xfrm>
          <a:prstGeom prst="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7" name="BlokTextu 36">
            <a:extLst>
              <a:ext uri="{FF2B5EF4-FFF2-40B4-BE49-F238E27FC236}">
                <a16:creationId xmlns:a16="http://schemas.microsoft.com/office/drawing/2014/main" id="{A14715E3-1F58-BF63-008D-B2C37DC3EFF7}"/>
              </a:ext>
            </a:extLst>
          </p:cNvPr>
          <p:cNvSpPr txBox="1"/>
          <p:nvPr/>
        </p:nvSpPr>
        <p:spPr>
          <a:xfrm>
            <a:off x="10896600" y="57658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4242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510F7E98-DB2F-FE70-EEF9-032C7B107EFF}"/>
              </a:ext>
            </a:extLst>
          </p:cNvPr>
          <p:cNvSpPr txBox="1"/>
          <p:nvPr/>
        </p:nvSpPr>
        <p:spPr>
          <a:xfrm>
            <a:off x="381000" y="203200"/>
            <a:ext cx="11430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400" b="1" dirty="0">
                <a:solidFill>
                  <a:srgbClr val="1B1B1B"/>
                </a:solidFill>
              </a:rPr>
              <a:t>Lifecycle Distribution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1DCDC48B-B25F-4E5A-A620-72BE61DE457E}"/>
              </a:ext>
            </a:extLst>
          </p:cNvPr>
          <p:cNvSpPr txBox="1"/>
          <p:nvPr/>
        </p:nvSpPr>
        <p:spPr>
          <a:xfrm>
            <a:off x="304800" y="13589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Prod. Cancellation</a:t>
            </a: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58CF2D1D-DB7C-447F-FEF6-486580CC7851}"/>
              </a:ext>
            </a:extLst>
          </p:cNvPr>
          <p:cNvSpPr/>
          <p:nvPr/>
        </p:nvSpPr>
        <p:spPr>
          <a:xfrm>
            <a:off x="3797300" y="13970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32FCEAE8-7783-E449-064D-F3E080D7A82D}"/>
              </a:ext>
            </a:extLst>
          </p:cNvPr>
          <p:cNvSpPr/>
          <p:nvPr/>
        </p:nvSpPr>
        <p:spPr>
          <a:xfrm>
            <a:off x="3797300" y="1397000"/>
            <a:ext cx="7010400" cy="304800"/>
          </a:xfrm>
          <a:prstGeom prst="rect">
            <a:avLst/>
          </a:prstGeom>
          <a:solidFill>
            <a:srgbClr val="0000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54672B2F-93DC-3C18-D2D6-CAAB609F6C77}"/>
              </a:ext>
            </a:extLst>
          </p:cNvPr>
          <p:cNvSpPr txBox="1"/>
          <p:nvPr/>
        </p:nvSpPr>
        <p:spPr>
          <a:xfrm>
            <a:off x="10896600" y="13462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1154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95612853-82C9-B783-73F1-75E0281D8797}"/>
              </a:ext>
            </a:extLst>
          </p:cNvPr>
          <p:cNvSpPr txBox="1"/>
          <p:nvPr/>
        </p:nvSpPr>
        <p:spPr>
          <a:xfrm>
            <a:off x="304800" y="21463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Active Product</a:t>
            </a:r>
          </a:p>
        </p:txBody>
      </p:sp>
      <p:sp>
        <p:nvSpPr>
          <p:cNvPr id="11" name="Obdĺžnik 10">
            <a:extLst>
              <a:ext uri="{FF2B5EF4-FFF2-40B4-BE49-F238E27FC236}">
                <a16:creationId xmlns:a16="http://schemas.microsoft.com/office/drawing/2014/main" id="{1AC67EE4-6712-7343-DD2B-5AF237BDC65C}"/>
              </a:ext>
            </a:extLst>
          </p:cNvPr>
          <p:cNvSpPr/>
          <p:nvPr/>
        </p:nvSpPr>
        <p:spPr>
          <a:xfrm>
            <a:off x="3797300" y="21844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2" name="Obdĺžnik 11">
            <a:extLst>
              <a:ext uri="{FF2B5EF4-FFF2-40B4-BE49-F238E27FC236}">
                <a16:creationId xmlns:a16="http://schemas.microsoft.com/office/drawing/2014/main" id="{CA2DD978-8782-35DD-73EA-688E3383F253}"/>
              </a:ext>
            </a:extLst>
          </p:cNvPr>
          <p:cNvSpPr/>
          <p:nvPr/>
        </p:nvSpPr>
        <p:spPr>
          <a:xfrm>
            <a:off x="3797300" y="2184400"/>
            <a:ext cx="5842000" cy="304800"/>
          </a:xfrm>
          <a:prstGeom prst="rect">
            <a:avLst/>
          </a:prstGeom>
          <a:solidFill>
            <a:srgbClr val="0000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F23E1592-A497-3FFB-E3C6-DCEA0ED6B7D2}"/>
              </a:ext>
            </a:extLst>
          </p:cNvPr>
          <p:cNvSpPr txBox="1"/>
          <p:nvPr/>
        </p:nvSpPr>
        <p:spPr>
          <a:xfrm>
            <a:off x="10896600" y="21336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962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4B9BE8F2-B27E-73E1-CF97-704EF2DFB69C}"/>
              </a:ext>
            </a:extLst>
          </p:cNvPr>
          <p:cNvSpPr txBox="1"/>
          <p:nvPr/>
        </p:nvSpPr>
        <p:spPr>
          <a:xfrm>
            <a:off x="304800" y="29337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End Prod.Lifecycl.</a:t>
            </a:r>
          </a:p>
        </p:txBody>
      </p:sp>
      <p:sp>
        <p:nvSpPr>
          <p:cNvPr id="15" name="Obdĺžnik 14">
            <a:extLst>
              <a:ext uri="{FF2B5EF4-FFF2-40B4-BE49-F238E27FC236}">
                <a16:creationId xmlns:a16="http://schemas.microsoft.com/office/drawing/2014/main" id="{0A7796A2-C261-B7A7-E7C1-C6D877FE82FE}"/>
              </a:ext>
            </a:extLst>
          </p:cNvPr>
          <p:cNvSpPr/>
          <p:nvPr/>
        </p:nvSpPr>
        <p:spPr>
          <a:xfrm>
            <a:off x="3797300" y="29718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6" name="Obdĺžnik 15">
            <a:extLst>
              <a:ext uri="{FF2B5EF4-FFF2-40B4-BE49-F238E27FC236}">
                <a16:creationId xmlns:a16="http://schemas.microsoft.com/office/drawing/2014/main" id="{BA4DFB2B-9957-B5A3-A2B0-03170A89510D}"/>
              </a:ext>
            </a:extLst>
          </p:cNvPr>
          <p:cNvSpPr/>
          <p:nvPr/>
        </p:nvSpPr>
        <p:spPr>
          <a:xfrm>
            <a:off x="3797300" y="2971800"/>
            <a:ext cx="2971800" cy="304800"/>
          </a:xfrm>
          <a:prstGeom prst="rect">
            <a:avLst/>
          </a:prstGeom>
          <a:solidFill>
            <a:srgbClr val="0000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9B6522C1-3693-C4C2-3219-7169C42D9033}"/>
              </a:ext>
            </a:extLst>
          </p:cNvPr>
          <p:cNvSpPr txBox="1"/>
          <p:nvPr/>
        </p:nvSpPr>
        <p:spPr>
          <a:xfrm>
            <a:off x="10896600" y="29210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490</a:t>
            </a: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516AB148-9AFB-23D7-391B-1AF7B5FDF473}"/>
              </a:ext>
            </a:extLst>
          </p:cNvPr>
          <p:cNvSpPr txBox="1"/>
          <p:nvPr/>
        </p:nvSpPr>
        <p:spPr>
          <a:xfrm>
            <a:off x="304800" y="37211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(empty)</a:t>
            </a:r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3F7DBA49-3C5E-C300-FDB7-F336A5B625BD}"/>
              </a:ext>
            </a:extLst>
          </p:cNvPr>
          <p:cNvSpPr/>
          <p:nvPr/>
        </p:nvSpPr>
        <p:spPr>
          <a:xfrm>
            <a:off x="3797300" y="37592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1E1CFB77-BF2E-8EAE-1382-1BEA8DD7BFE3}"/>
              </a:ext>
            </a:extLst>
          </p:cNvPr>
          <p:cNvSpPr/>
          <p:nvPr/>
        </p:nvSpPr>
        <p:spPr>
          <a:xfrm>
            <a:off x="3797300" y="3759200"/>
            <a:ext cx="1727200" cy="304800"/>
          </a:xfrm>
          <a:prstGeom prst="rect">
            <a:avLst/>
          </a:prstGeom>
          <a:solidFill>
            <a:srgbClr val="0000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1" name="BlokTextu 20">
            <a:extLst>
              <a:ext uri="{FF2B5EF4-FFF2-40B4-BE49-F238E27FC236}">
                <a16:creationId xmlns:a16="http://schemas.microsoft.com/office/drawing/2014/main" id="{7C0899DD-1083-A70E-6C2C-13FA791CA19F}"/>
              </a:ext>
            </a:extLst>
          </p:cNvPr>
          <p:cNvSpPr txBox="1"/>
          <p:nvPr/>
        </p:nvSpPr>
        <p:spPr>
          <a:xfrm>
            <a:off x="10896600" y="37084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285</a:t>
            </a:r>
          </a:p>
        </p:txBody>
      </p:sp>
      <p:sp>
        <p:nvSpPr>
          <p:cNvPr id="22" name="BlokTextu 21">
            <a:extLst>
              <a:ext uri="{FF2B5EF4-FFF2-40B4-BE49-F238E27FC236}">
                <a16:creationId xmlns:a16="http://schemas.microsoft.com/office/drawing/2014/main" id="{99EB6D12-B1F1-BCFB-27EB-7486F3023562}"/>
              </a:ext>
            </a:extLst>
          </p:cNvPr>
          <p:cNvSpPr txBox="1"/>
          <p:nvPr/>
        </p:nvSpPr>
        <p:spPr>
          <a:xfrm>
            <a:off x="304800" y="45085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Phase Out Announce</a:t>
            </a:r>
          </a:p>
        </p:txBody>
      </p:sp>
      <p:sp>
        <p:nvSpPr>
          <p:cNvPr id="23" name="Obdĺžnik 22">
            <a:extLst>
              <a:ext uri="{FF2B5EF4-FFF2-40B4-BE49-F238E27FC236}">
                <a16:creationId xmlns:a16="http://schemas.microsoft.com/office/drawing/2014/main" id="{6A37B6EF-821D-6467-7868-20B93B9B556E}"/>
              </a:ext>
            </a:extLst>
          </p:cNvPr>
          <p:cNvSpPr/>
          <p:nvPr/>
        </p:nvSpPr>
        <p:spPr>
          <a:xfrm>
            <a:off x="3797300" y="45466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4" name="Obdĺžnik 23">
            <a:extLst>
              <a:ext uri="{FF2B5EF4-FFF2-40B4-BE49-F238E27FC236}">
                <a16:creationId xmlns:a16="http://schemas.microsoft.com/office/drawing/2014/main" id="{781A6C7C-E7FA-5D5A-A825-62612F37A80C}"/>
              </a:ext>
            </a:extLst>
          </p:cNvPr>
          <p:cNvSpPr/>
          <p:nvPr/>
        </p:nvSpPr>
        <p:spPr>
          <a:xfrm>
            <a:off x="3797300" y="4546600"/>
            <a:ext cx="457200" cy="304800"/>
          </a:xfrm>
          <a:prstGeom prst="rect">
            <a:avLst/>
          </a:prstGeom>
          <a:solidFill>
            <a:srgbClr val="0000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5" name="BlokTextu 24">
            <a:extLst>
              <a:ext uri="{FF2B5EF4-FFF2-40B4-BE49-F238E27FC236}">
                <a16:creationId xmlns:a16="http://schemas.microsoft.com/office/drawing/2014/main" id="{99D8CE11-4DA5-D011-905F-3A1B10871F7C}"/>
              </a:ext>
            </a:extLst>
          </p:cNvPr>
          <p:cNvSpPr txBox="1"/>
          <p:nvPr/>
        </p:nvSpPr>
        <p:spPr>
          <a:xfrm>
            <a:off x="10896600" y="44958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75</a:t>
            </a:r>
          </a:p>
        </p:txBody>
      </p:sp>
      <p:sp>
        <p:nvSpPr>
          <p:cNvPr id="26" name="BlokTextu 25">
            <a:extLst>
              <a:ext uri="{FF2B5EF4-FFF2-40B4-BE49-F238E27FC236}">
                <a16:creationId xmlns:a16="http://schemas.microsoft.com/office/drawing/2014/main" id="{AA64D548-C3F4-7F82-1F54-F61DF9FF761E}"/>
              </a:ext>
            </a:extLst>
          </p:cNvPr>
          <p:cNvSpPr txBox="1"/>
          <p:nvPr/>
        </p:nvSpPr>
        <p:spPr>
          <a:xfrm>
            <a:off x="304800" y="5295900"/>
            <a:ext cx="3429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Prod. Discont.</a:t>
            </a:r>
          </a:p>
        </p:txBody>
      </p:sp>
      <p:sp>
        <p:nvSpPr>
          <p:cNvPr id="27" name="Obdĺžnik 26">
            <a:extLst>
              <a:ext uri="{FF2B5EF4-FFF2-40B4-BE49-F238E27FC236}">
                <a16:creationId xmlns:a16="http://schemas.microsoft.com/office/drawing/2014/main" id="{E3DBDC84-FAD7-54DE-A952-CC9E23CC35FF}"/>
              </a:ext>
            </a:extLst>
          </p:cNvPr>
          <p:cNvSpPr/>
          <p:nvPr/>
        </p:nvSpPr>
        <p:spPr>
          <a:xfrm>
            <a:off x="3797300" y="5334000"/>
            <a:ext cx="7010400" cy="304800"/>
          </a:xfrm>
          <a:prstGeom prst="rect">
            <a:avLst/>
          </a:prstGeom>
          <a:solidFill>
            <a:srgbClr val="EE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8" name="Obdĺžnik 27">
            <a:extLst>
              <a:ext uri="{FF2B5EF4-FFF2-40B4-BE49-F238E27FC236}">
                <a16:creationId xmlns:a16="http://schemas.microsoft.com/office/drawing/2014/main" id="{E969EF6A-0E49-969B-A49F-40813A3AC94C}"/>
              </a:ext>
            </a:extLst>
          </p:cNvPr>
          <p:cNvSpPr/>
          <p:nvPr/>
        </p:nvSpPr>
        <p:spPr>
          <a:xfrm>
            <a:off x="3797300" y="5334000"/>
            <a:ext cx="190500" cy="304800"/>
          </a:xfrm>
          <a:prstGeom prst="rect">
            <a:avLst/>
          </a:prstGeom>
          <a:solidFill>
            <a:srgbClr val="0000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9" name="BlokTextu 28">
            <a:extLst>
              <a:ext uri="{FF2B5EF4-FFF2-40B4-BE49-F238E27FC236}">
                <a16:creationId xmlns:a16="http://schemas.microsoft.com/office/drawing/2014/main" id="{93EF787D-9495-976B-5593-E95C24CB3054}"/>
              </a:ext>
            </a:extLst>
          </p:cNvPr>
          <p:cNvSpPr txBox="1"/>
          <p:nvPr/>
        </p:nvSpPr>
        <p:spPr>
          <a:xfrm>
            <a:off x="10896600" y="5283200"/>
            <a:ext cx="990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000" b="1">
                <a:solidFill>
                  <a:srgbClr val="1F1F1F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24170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2E0F1E8E-BCD3-A419-8F1E-C1C517D0425F}"/>
              </a:ext>
            </a:extLst>
          </p:cNvPr>
          <p:cNvSpPr txBox="1"/>
          <p:nvPr/>
        </p:nvSpPr>
        <p:spPr>
          <a:xfrm>
            <a:off x="381000" y="203200"/>
            <a:ext cx="11430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 b="1" dirty="0">
                <a:solidFill>
                  <a:srgbClr val="1B1B1B"/>
                </a:solidFill>
              </a:rPr>
              <a:t>Final Results Summary</a:t>
            </a:r>
          </a:p>
        </p:txBody>
      </p:sp>
      <p:sp>
        <p:nvSpPr>
          <p:cNvPr id="4" name="Obdĺžnik 3">
            <a:extLst>
              <a:ext uri="{FF2B5EF4-FFF2-40B4-BE49-F238E27FC236}">
                <a16:creationId xmlns:a16="http://schemas.microsoft.com/office/drawing/2014/main" id="{7AD01A59-7D2E-2601-58A1-B7531E231C93}"/>
              </a:ext>
            </a:extLst>
          </p:cNvPr>
          <p:cNvSpPr/>
          <p:nvPr/>
        </p:nvSpPr>
        <p:spPr>
          <a:xfrm>
            <a:off x="381000" y="1397000"/>
            <a:ext cx="3556000" cy="1841500"/>
          </a:xfrm>
          <a:prstGeom prst="rect">
            <a:avLst/>
          </a:prstGeom>
          <a:solidFill>
            <a:srgbClr val="BD81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E992AD9D-3414-E9B5-0F03-AC2A674B730A}"/>
              </a:ext>
            </a:extLst>
          </p:cNvPr>
          <p:cNvSpPr txBox="1"/>
          <p:nvPr/>
        </p:nvSpPr>
        <p:spPr>
          <a:xfrm>
            <a:off x="533400" y="1524000"/>
            <a:ext cx="3251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Total Device Items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DFF69357-D61A-9E95-73D7-828691F4CE71}"/>
              </a:ext>
            </a:extLst>
          </p:cNvPr>
          <p:cNvSpPr txBox="1"/>
          <p:nvPr/>
        </p:nvSpPr>
        <p:spPr>
          <a:xfrm>
            <a:off x="533400" y="1828800"/>
            <a:ext cx="3251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2998</a:t>
            </a: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C3CC6A25-5A87-1B54-D0E6-2F0EA5A82916}"/>
              </a:ext>
            </a:extLst>
          </p:cNvPr>
          <p:cNvSpPr/>
          <p:nvPr/>
        </p:nvSpPr>
        <p:spPr>
          <a:xfrm>
            <a:off x="4318000" y="1397000"/>
            <a:ext cx="3556000" cy="1841500"/>
          </a:xfrm>
          <a:prstGeom prst="rect">
            <a:avLst/>
          </a:prstGeom>
          <a:solidFill>
            <a:srgbClr val="47AD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A1656811-0475-8B00-1E63-D79C45D78366}"/>
              </a:ext>
            </a:extLst>
          </p:cNvPr>
          <p:cNvSpPr txBox="1"/>
          <p:nvPr/>
        </p:nvSpPr>
        <p:spPr>
          <a:xfrm>
            <a:off x="4470400" y="1524000"/>
            <a:ext cx="3251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Total Projects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8B0F60C6-AD5D-DC50-56E6-E86D67B72CBE}"/>
              </a:ext>
            </a:extLst>
          </p:cNvPr>
          <p:cNvSpPr txBox="1"/>
          <p:nvPr/>
        </p:nvSpPr>
        <p:spPr>
          <a:xfrm>
            <a:off x="4470400" y="1828800"/>
            <a:ext cx="3251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206</a:t>
            </a:r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568B1521-3159-486A-4592-55E7E13F33BE}"/>
              </a:ext>
            </a:extLst>
          </p:cNvPr>
          <p:cNvSpPr/>
          <p:nvPr/>
        </p:nvSpPr>
        <p:spPr>
          <a:xfrm>
            <a:off x="8255000" y="1397000"/>
            <a:ext cx="3556000" cy="1841500"/>
          </a:xfrm>
          <a:prstGeom prst="rect">
            <a:avLst/>
          </a:prstGeom>
          <a:solidFill>
            <a:srgbClr val="317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5C299E11-1DAA-9C18-F3FF-D72245D1F8A5}"/>
              </a:ext>
            </a:extLst>
          </p:cNvPr>
          <p:cNvSpPr txBox="1"/>
          <p:nvPr/>
        </p:nvSpPr>
        <p:spPr>
          <a:xfrm>
            <a:off x="8407400" y="1524000"/>
            <a:ext cx="3251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Total Groups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1139A3A3-1E46-9863-0628-7C085DDE8790}"/>
              </a:ext>
            </a:extLst>
          </p:cNvPr>
          <p:cNvSpPr txBox="1"/>
          <p:nvPr/>
        </p:nvSpPr>
        <p:spPr>
          <a:xfrm>
            <a:off x="8407400" y="1828800"/>
            <a:ext cx="3251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3" name="Obdĺžnik 12">
            <a:extLst>
              <a:ext uri="{FF2B5EF4-FFF2-40B4-BE49-F238E27FC236}">
                <a16:creationId xmlns:a16="http://schemas.microsoft.com/office/drawing/2014/main" id="{961091A7-1DE4-E163-D4A5-00E4F2125B67}"/>
              </a:ext>
            </a:extLst>
          </p:cNvPr>
          <p:cNvSpPr/>
          <p:nvPr/>
        </p:nvSpPr>
        <p:spPr>
          <a:xfrm>
            <a:off x="381000" y="3492500"/>
            <a:ext cx="4572000" cy="1841500"/>
          </a:xfrm>
          <a:prstGeom prst="rect">
            <a:avLst/>
          </a:prstGeom>
          <a:solidFill>
            <a:srgbClr val="0000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9CC71091-C8BD-CE83-E9DF-3CE7F7CCB83B}"/>
              </a:ext>
            </a:extLst>
          </p:cNvPr>
          <p:cNvSpPr txBox="1"/>
          <p:nvPr/>
        </p:nvSpPr>
        <p:spPr>
          <a:xfrm>
            <a:off x="533400" y="3619500"/>
            <a:ext cx="4267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Obsolete-like Items</a:t>
            </a: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0F18DF84-0258-D455-BCDC-75F7BA8B3780}"/>
              </a:ext>
            </a:extLst>
          </p:cNvPr>
          <p:cNvSpPr txBox="1"/>
          <p:nvPr/>
        </p:nvSpPr>
        <p:spPr>
          <a:xfrm>
            <a:off x="533400" y="3924300"/>
            <a:ext cx="4267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1676 (55.9%)</a:t>
            </a:r>
          </a:p>
        </p:txBody>
      </p:sp>
      <p:sp>
        <p:nvSpPr>
          <p:cNvPr id="16" name="BlokTextu 15">
            <a:extLst>
              <a:ext uri="{FF2B5EF4-FFF2-40B4-BE49-F238E27FC236}">
                <a16:creationId xmlns:a16="http://schemas.microsoft.com/office/drawing/2014/main" id="{AC682B3C-1072-0360-4D86-F5FE27593CA6}"/>
              </a:ext>
            </a:extLst>
          </p:cNvPr>
          <p:cNvSpPr txBox="1"/>
          <p:nvPr/>
        </p:nvSpPr>
        <p:spPr>
          <a:xfrm>
            <a:off x="5334000" y="3619500"/>
            <a:ext cx="6477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dirty="0">
                <a:solidFill>
                  <a:srgbClr val="1F1F1F"/>
                </a:solidFill>
              </a:rPr>
              <a:t>Active Product: 962
Empty Lifecycle: 285
Obsolete-like classes:
- Prod. Cancellation
- End </a:t>
            </a:r>
            <a:r>
              <a:rPr lang="en-US" sz="2400" dirty="0" err="1">
                <a:solidFill>
                  <a:srgbClr val="1F1F1F"/>
                </a:solidFill>
              </a:rPr>
              <a:t>Prod.Lifecycl</a:t>
            </a:r>
            <a:r>
              <a:rPr lang="en-US" sz="2400" dirty="0">
                <a:solidFill>
                  <a:srgbClr val="1F1F1F"/>
                </a:solidFill>
              </a:rPr>
              <a:t>.
- Prod. </a:t>
            </a:r>
            <a:r>
              <a:rPr lang="en-US" sz="2400" dirty="0" err="1">
                <a:solidFill>
                  <a:srgbClr val="1F1F1F"/>
                </a:solidFill>
              </a:rPr>
              <a:t>Discont</a:t>
            </a:r>
            <a:r>
              <a:rPr lang="en-US" sz="2400" dirty="0">
                <a:solidFill>
                  <a:srgbClr val="1F1F1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4970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205</Words>
  <Application>Microsoft Office PowerPoint</Application>
  <PresentationFormat>Širokouhlá</PresentationFormat>
  <Paragraphs>66</Paragraphs>
  <Slides>6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Motív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Marek Malina</dc:creator>
  <cp:lastModifiedBy>Marek Malina</cp:lastModifiedBy>
  <cp:revision>3</cp:revision>
  <dcterms:created xsi:type="dcterms:W3CDTF">2026-03-27T11:03:57Z</dcterms:created>
  <dcterms:modified xsi:type="dcterms:W3CDTF">2026-03-27T11:39:42Z</dcterms:modified>
</cp:coreProperties>
</file>